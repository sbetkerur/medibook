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12192000" cy="246888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STRATEGY DOCUMENT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48640" y="7315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MediBook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Go-To-Market Plan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371600" cy="4572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926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WhatsApp-native appointment booking SaaS for Indian hospitals &amp; clinics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485900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93592"/>
            <a:ext cx="13030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FY 2026–2027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77440" y="3566160"/>
            <a:ext cx="2528316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593592"/>
            <a:ext cx="23454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500 Clinics in 12 months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0" y="3566160"/>
            <a:ext cx="1833372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3593592"/>
            <a:ext cx="16504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₹2 Cr ARR Target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46720" y="3566160"/>
            <a:ext cx="3223260" cy="292608"/>
          </a:xfrm>
          <a:prstGeom prst="roundRect">
            <a:avLst>
              <a:gd name="adj" fmla="val 37500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3593592"/>
            <a:ext cx="30403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🇮🇳 Market: Indian Cities Tier 1–3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48640" y="630936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March 2026  |  Version 1.0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325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3350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9659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19751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6060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6151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Personas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3246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2552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Messaging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38404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886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8953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4805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45262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5354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1206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51663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51755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12801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4496" y="13258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75120" y="13350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19202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54496" y="19659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19751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256032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260604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75120" y="261518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 &amp; Funnel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217920" y="320040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54496" y="324612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675120" y="325526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Marketing Roadmap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384048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388620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389534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Success Metrics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17920" y="448056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452628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75120" y="45354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217920" y="5120640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54496" y="5166360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75120" y="517550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pitch, the core insight, and the year-one target.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MediBook?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1155680" cy="1417320"/>
          </a:xfrm>
          <a:prstGeom prst="roundRect">
            <a:avLst>
              <a:gd name="adj" fmla="val 645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1417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984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Pitch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MediBook lets any Indian clinic run a 24/7 WhatsApp appointment bot in under 10 minutes — no app downloads, no new software, no training required for patients.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788920"/>
            <a:ext cx="45720" cy="2011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27889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657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type "Hi" on WhatsApp and book — no app download, no website, no signup.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2788920"/>
            <a:ext cx="45720" cy="2011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60520" y="27889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43400" y="3337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657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reminders cut no-show rates by up to 60%, recovering thousands per month.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863840" y="2788920"/>
            <a:ext cx="45720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2788920"/>
            <a:ext cx="35204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9244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92440" y="3337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10 Minutes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92440" y="3657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doctors, set schedule, connect WhatsApp — your bot handles bookings while you sleep.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4937760"/>
            <a:ext cx="4572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9377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83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Cr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8640" y="5413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 Target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108960" y="4937760"/>
            <a:ext cx="45720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49377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4983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291840" y="5413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Clinics (Year 1)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852160" y="4937760"/>
            <a:ext cx="45720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97880" y="49377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4983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₹1,999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035040" y="5413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Monthly Revenue/Clinic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595360" y="4937760"/>
            <a:ext cx="4572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641080" y="4937760"/>
            <a:ext cx="25146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49834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&lt;90 Days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778240" y="5413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50 Paying Clinics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healthcare + WhatsApp intersection is one of the largest untapped SaaS opportunities.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13L+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Clinics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 (MCI)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34440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500M+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Users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234440"/>
            <a:ext cx="26517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71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Still 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Registers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0" y="123444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69680" y="1234440"/>
            <a:ext cx="265176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0" y="137160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961120" y="1965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No-Show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(unautomated)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834640"/>
            <a:ext cx="10789920" cy="777240"/>
          </a:xfrm>
          <a:prstGeom prst="rect">
            <a:avLst>
              <a:gd name="adj" fmla="val 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88950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31638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₹31,200 Cr/year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114800" y="288950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13L clinics + 50K hospitals @ ₹1,999/mo avg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886200"/>
            <a:ext cx="8686800" cy="777240"/>
          </a:xfrm>
          <a:prstGeom prst="rect">
            <a:avLst>
              <a:gd name="adj" fmla="val 7059"/>
            </a:avLst>
          </a:prstGeom>
          <a:solidFill>
            <a:srgbClr val="059669">
              <a:alpha val="82000"/>
            </a:srgbClr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9410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Addressable Market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" y="42153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₹4,680 Cr/year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114800" y="394106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~15% of TAM: WhatsApp-active, 2+ doctors, good internet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937760"/>
            <a:ext cx="6400800" cy="777240"/>
          </a:xfrm>
          <a:prstGeom prst="rect">
            <a:avLst>
              <a:gd name="adj" fmla="val 7059"/>
            </a:avLst>
          </a:prstGeom>
          <a:solidFill>
            <a:srgbClr val="D97706">
              <a:alpha val="64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99262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Year 1 Obtainable Market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2669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Cr ARR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114800" y="4992624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paying clinics at avg ₹1,999/mo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Now? Five Powerful Tailwinds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34416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53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13258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Explosion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161848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is aggressively subsidising BSP onboarding for Indian SMBs in 2025–26. The infrastructure is ready and cheap.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30428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13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70432" y="22860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ABDM — Govt. Push for Digital Health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70432" y="257860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Ayushman Bharat Digital Mission is mandating clinic digitisation. Doctors are now looking for compliant digital tools.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326440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73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70432" y="32461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Patient Expectations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70432" y="353872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now expect digital booking. Clinics that don't offer it lose to ones that do. WhatsApp is the preferred channel.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422452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3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336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70432" y="4206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Penetration in Tier 2–3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70432" y="449884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JioAir + affordable Androids put WhatsApp in every patient's hand. Tier 2 and 3 cities are the next growth frontier.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65760" y="507492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8912" y="5184648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3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193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70432" y="51663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 Cost vs MediBook Cost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70432" y="5458968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receptionist costs ₹12,000–18,000/month. MediBook Growth plan is ₹1,999. The ROI conversation is effortless.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 &amp; Buyer Personas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sell to clinic owners, not to patients. Understanding who signs the cheque is critical.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Key Buyer Personas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406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👨‍⚕️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Rajesh Mehta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6550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Practitioner / Small Clinic Owner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039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36192" y="2039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rings non-stop; manual booking chaos; high no-show rate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624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170432" y="2624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missed appointments, look professional, free up phone time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3154680"/>
            <a:ext cx="5120640" cy="301752"/>
          </a:xfrm>
          <a:prstGeom prst="roundRect">
            <a:avLst>
              <a:gd name="adj" fmla="val 18182"/>
            </a:avLst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00400"/>
            <a:ext cx="4846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persona: Solo Practitioners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89320" y="123444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234440"/>
            <a:ext cx="54406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084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Suresh Nair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20840" y="165506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Admin / COO Multi-Speciality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6480" y="203911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159752" y="20391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booking channels create chaos; OPD queue management nightmare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26480" y="26243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793992" y="2624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booking, patient analytics, staff efficiency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5120640" cy="301752"/>
          </a:xfrm>
          <a:prstGeom prst="roundRect">
            <a:avLst>
              <a:gd name="adj" fmla="val 18182"/>
            </a:avLst>
          </a:prstGeom>
          <a:solidFill>
            <a:srgbClr val="059669">
              <a:alpha val="12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200400"/>
            <a:ext cx="4846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persona: Hospital Admins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84048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840480"/>
            <a:ext cx="544068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💆‍♀️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9728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Priya Anand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97280" y="426110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Clinic Owner (Skin / Women's Health)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4645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36192" y="4645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driven bookings are chaotic; wants premium experience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52303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70432" y="5230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WhatsApp messages, reduce no-shows, premium branding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" y="5760720"/>
            <a:ext cx="5120640" cy="301752"/>
          </a:xfrm>
          <a:prstGeom prst="roundRect">
            <a:avLst>
              <a:gd name="adj" fmla="val 18182"/>
            </a:avLst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806440"/>
            <a:ext cx="4846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persona: Specialty Clinics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989320" y="3840480"/>
            <a:ext cx="544068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89320" y="3840480"/>
            <a:ext cx="544068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26480" y="3977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720840" y="3977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Anil Verma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720840" y="426110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 / Medical Equipment Reseller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26480" y="4645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159752" y="464515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additional revenue from existing clinic relationships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26480" y="52303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93992" y="523036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20% recurring commission; upsell existing clients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5760720"/>
            <a:ext cx="5120640" cy="301752"/>
          </a:xfrm>
          <a:prstGeom prst="roundRect">
            <a:avLst>
              <a:gd name="adj" fmla="val 18182"/>
            </a:avLst>
          </a:prstGeom>
          <a:solidFill>
            <a:srgbClr val="D97706">
              <a:alpha val="12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5806440"/>
            <a:ext cx="4846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persona: Channel Partners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Messaging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stand for, what we say, and how we say it differently from everyone else.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&amp; MESSAGING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 &amp; 6 Message Pillars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1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Statement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i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 Indian clinic owners who are losing patients to missed calls and manual booking chaos, MediBook is the only WhatsApp appointment bot that works completely inside WhatsApp — no app, no complex training, no IT team required."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" y="2487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50545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32688" y="2532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Friction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patients already use WhatsApp every day — MediBook makes your clinic available there.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096512" y="23774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487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50545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32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Recovery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24h &amp; 2h reminders cut no-show rates by up to 60%, recovering lost revenue.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827264" y="237744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36992" y="248716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250545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94192" y="25328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to Live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36992" y="297180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in under 10 minutes. Your bot handles bookings while you sleep.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389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4498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5171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32688" y="45445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India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 timezone-aware, Indian date formats, multi-language. Not a Western tool bolted on.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96512" y="4389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4498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45171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3440" y="45445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Trust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data encrypted at rest, schema-isolated per clinic, ABDM-aligned design.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827264" y="4389120"/>
            <a:ext cx="3520440" cy="1828800"/>
          </a:xfrm>
          <a:prstGeom prst="roundRect">
            <a:avLst>
              <a:gd name="adj" fmla="val 5000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36992" y="4498848"/>
            <a:ext cx="347472" cy="347472"/>
          </a:xfrm>
          <a:prstGeom prst="roundRect">
            <a:avLst>
              <a:gd name="adj" fmla="val 1578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36992" y="4517136"/>
            <a:ext cx="347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94192" y="45445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Control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936992" y="498348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dashboard: appointments, patient history, analytics — from any browser.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compete with, where we win, and where we need to be careful.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92608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16152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164592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216152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120640" y="1188720"/>
            <a:ext cx="100584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93792" y="121615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 Native?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943600" cy="29260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21615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MediBook Edge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1481328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481328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148132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481328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5910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Clinic Software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56432" y="159105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₹5,000–15,000/mo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93792" y="15910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152704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5–8x cheaper; WhatsApp-native; no patient app download needed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2121408"/>
            <a:ext cx="29260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83280" y="2121408"/>
            <a:ext cx="16459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2121408"/>
            <a:ext cx="100584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2121408"/>
            <a:ext cx="59436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2311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eVitalRx (Pharmacy+Billing)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456432" y="22311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₹1,500–4,000/mo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193792" y="22311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1072" y="216712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Appointment-focused; better bot UX; reminder automation built-in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761488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0" y="2761488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20640" y="276148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761488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287121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Clinicspots (HMS)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56432" y="287121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₹8,000–25,000/mo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193792" y="287121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91072" y="280720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onboarding; WhatsApp as the primary booking channel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401568"/>
            <a:ext cx="29260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83280" y="3401568"/>
            <a:ext cx="16459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20640" y="3401568"/>
            <a:ext cx="100584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17920" y="3401568"/>
            <a:ext cx="59436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5112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Calendly / Acuity (International)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56432" y="351129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₹2,500–6,000/mo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93792" y="35112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291072" y="344728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India-specific; IST-aware; no landing page needed; pure WhatsApp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4041648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4041648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120640" y="404164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17920" y="4041648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8912" y="415137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(Manual)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56432" y="415137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(Manual)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193792" y="415137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Manual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91072" y="408736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24/7; structured data; no missed messages; dashboard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681728"/>
            <a:ext cx="292608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383280" y="4681728"/>
            <a:ext cx="164592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20640" y="4681728"/>
            <a:ext cx="100584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0" y="4681728"/>
            <a:ext cx="5943600" cy="5943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8912" y="479145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Built Bots (Agency)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456432" y="479145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₹50K–5L setup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193792" y="479145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Varies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6291072" y="472744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setup; maintained product; fraction of the cost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365760" y="5321808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3280" y="5321808"/>
            <a:ext cx="1645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20640" y="5321808"/>
            <a:ext cx="10058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17920" y="5321808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38912" y="543153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/ 1mg Marketplace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456432" y="54315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Commission-based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193792" y="54315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91072" y="5367528"/>
            <a:ext cx="5806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owns the patient relationship — no lead-sharing, no commission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365760" y="6144768"/>
            <a:ext cx="11155680" cy="457200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8640" y="6199632"/>
            <a:ext cx="10789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Our Moat: Every competitor requires a new app, website, or workflow for patients. MediBook requires zero behaviour change — patients use WhatsApp they already have.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of where we stand entering the market.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— Strengths, Weaknesses, Opportunities, Threats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167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STRENGTHS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1848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WhatsApp-native — zero patient friction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85623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Multi-tenant architecture scales cheaply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02920" y="209397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Free Starter tier — low barrier to entry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 reminders reduce no-shows (revenue story)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2569464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Works on any smartphone, no app install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80720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IST timezone, Indian date formats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304495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24/7 autonomous bot — no staff needed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02920" y="328269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Schema-isolated data — compliance-ready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989320" y="1207008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1673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WEAKNESSES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61848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EMR/billing integration yet (vs Practo)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26480" y="185623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stage — no case studies at launch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6126480" y="209397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API dependency (policy risk)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126480" y="233172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Web-only admin (no mobile app)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26480" y="2569464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brand awareness at launch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26480" y="280720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English only at launch (no regional language)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126480" y="304495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Requires internet — no offline mode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126480" y="328269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Small team; limited sales bandwidth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92277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OPPORTUNITIES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2452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500M+ WhatsApp users = massive distribution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446227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68% of clinics on manual registers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" y="470001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ABDM driving clinic digitisation nationally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02920" y="493776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Hindi + Regional language bot expansion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2920" y="5175504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ABHA health ID integration (govt push)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02920" y="541324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IMA chapters as partner distribution channel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565099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Hospital chains — enterprise multi-branch deals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" y="588873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Adjacent verticals: labs, pharmacies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989320" y="3813048"/>
            <a:ext cx="5440680" cy="2423160"/>
          </a:xfrm>
          <a:prstGeom prst="roundRect">
            <a:avLst>
              <a:gd name="adj" fmla="val 3774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92277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THREATS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422452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Practo launches a WhatsApp bot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26480" y="446227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 changes API pricing or message limits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26480" y="470001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Business App adds native scheduling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26480" y="4937760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Low-cost competitors copy model quickly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26480" y="5175504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trust in new software takes time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26480" y="5413248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privacy concerns / regulatory changes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26480" y="5650992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Internet unreliability in Tier 3 cities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26480" y="5888736"/>
            <a:ext cx="5166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 churn if onboarding is poor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entry, value-based expansion, and transparent pricing builds trust.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Plans — Designed to Convert and Retain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07008"/>
            <a:ext cx="2697480" cy="5029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167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75488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75488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" y="2377440"/>
            <a:ext cx="24688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487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3 doctors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2816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200 appointments/month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3145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WhatsApp bot (book + cancel)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3474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dashboard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5488" y="3803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24h reminders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5488" y="4133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hospital/location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4462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Community support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207008"/>
            <a:ext cx="2697480" cy="5029200"/>
          </a:xfrm>
          <a:prstGeom prst="roundRect">
            <a:avLst>
              <a:gd name="adj" fmla="val 406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05156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67328" y="1069848"/>
            <a:ext cx="1563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310128" y="13167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10128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₹1,999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310128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310128" y="2377440"/>
            <a:ext cx="2468880" cy="9144"/>
          </a:xfrm>
          <a:prstGeom prst="rect">
            <a:avLst/>
          </a:prstGeom>
          <a:solidFill>
            <a:srgbClr val="BFDBFE">
              <a:alpha val="50000"/>
            </a:srgbClr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0128" y="2487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10 doctors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10128" y="2816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1,000 appointments/month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3145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bot flows + reschedule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10128" y="3474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dashboard + analytics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10128" y="3803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24h + 2h reminders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0128" y="4133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hospitals/locations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310128" y="4462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Waitlist management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310128" y="4791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CSV export + Email support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35040" y="1207008"/>
            <a:ext cx="2697480" cy="5029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13167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44768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₹4,999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144768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44768" y="2377440"/>
            <a:ext cx="24688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44768" y="2487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25 doctors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44768" y="2816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5,000 appointments/month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44768" y="3145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Growth features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44768" y="3474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Doctor leave management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44768" y="3803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Patient feedback &amp; ratings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44768" y="4133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Doctor-wise analytics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144768" y="4462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bot messages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44768" y="4791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onboarding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8869680" y="1207008"/>
            <a:ext cx="2697480" cy="502920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979408" y="13167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979408" y="1572768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₹9,999</a:t>
            </a:r>
            <a:endParaRPr lang="en-US" sz="2600" dirty="0"/>
          </a:p>
        </p:txBody>
      </p:sp>
      <p:sp>
        <p:nvSpPr>
          <p:cNvPr id="49" name="Text 47"/>
          <p:cNvSpPr/>
          <p:nvPr/>
        </p:nvSpPr>
        <p:spPr>
          <a:xfrm>
            <a:off x="8979408" y="212140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979408" y="2377440"/>
            <a:ext cx="2468880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79408" y="24871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doctors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979408" y="28163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99,999 appointments/month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8979408" y="314553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Professional features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979408" y="347472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Custom SLA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8979408" y="380390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979408" y="413308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8979408" y="44622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EMR integration support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979408" y="4791456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option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65760" y="6355080"/>
            <a:ext cx="11155680" cy="292608"/>
          </a:xfrm>
          <a:prstGeom prst="roundRect">
            <a:avLst>
              <a:gd name="adj" fmla="val 18750"/>
            </a:avLst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6382512"/>
            <a:ext cx="10789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Annual Plan: 2 months free (16.7% discount)   |   Founding Clinic Offer: First 100 paying clinics lock Growth at ₹999/mo for life   |   Referral: Both clinics get 1 month free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is weighted toward direct outreach and word-of-mouth. Inbound scales from Month 6.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CHANNELS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Channels — Budget Mix &amp; Rationale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8930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WhatsApp Outreach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325880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1325880"/>
            <a:ext cx="3017520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32588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0" y="128930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1–12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961120" y="1508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msgs/week/SDR; 5% positive response; highest conversion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2075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Partners (Resellers)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112264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112264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2112264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961120" y="20756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2–12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961120" y="2295144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recurring commission; leverage existing clinic trust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65760" y="28620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/ SEO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898648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2898648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898648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961120" y="28620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3–12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961120" y="308152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blog posts/month; comparison pages; "No-Show Calculator" tool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65760" y="36484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Ads (Meta + Google)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685032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66160" y="3685032"/>
            <a:ext cx="150876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3685032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961120" y="36484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961120" y="386791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₹50K/mo from M4; scale to ₹1.5L/mo by M10; requires testimonials first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65760" y="4434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 / Medical Events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66160" y="4471416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66160" y="4471416"/>
            <a:ext cx="1005840" cy="329184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471416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961120" y="44348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961120" y="46542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with state IMA chapters; CME events; live demo booth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65760" y="52212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Referral Program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66160" y="5257800"/>
            <a:ext cx="5029200" cy="329184"/>
          </a:xfrm>
          <a:prstGeom prst="roundRect">
            <a:avLst>
              <a:gd name="adj" fmla="val 2777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66160" y="5257800"/>
            <a:ext cx="502920" cy="329184"/>
          </a:xfrm>
          <a:prstGeom prst="roundRect">
            <a:avLst>
              <a:gd name="adj" fmla="val 27778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60520" y="525780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961120" y="522122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2–12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8961120" y="54406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Both-sides-free referral; in-dashboard "Share to WhatsApp" button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65760" y="6126480"/>
            <a:ext cx="1115568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6163056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Channel Logic: In Year 1, trust is scarce. Indian clinic owners buy from people they trust, not from ads. 50% of budget goes to human touchpoints (outreach + partners). From Month 6, testimonials fuel inbound shift.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 &amp; Funnel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consultative, low-pressure process built around the free trial and personal demonstration.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STRATEGY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&amp; Monthly Targets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5029200" cy="7132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Reach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4846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/ month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167128"/>
            <a:ext cx="4389120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5856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Visitors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53288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/ month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84648" y="2350008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02936" y="2368296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051560" y="3099816"/>
            <a:ext cx="3657600" cy="71323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1912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Signups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346557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/ month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18888" y="3282696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7176" y="3300984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17320" y="4032504"/>
            <a:ext cx="2926080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41239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Activated (Bot Live)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54480" y="43982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/ month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53128" y="4215384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71416" y="4233672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83080" y="4965192"/>
            <a:ext cx="2194560" cy="713232"/>
          </a:xfrm>
          <a:prstGeom prst="rect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20240" y="505663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920240" y="533095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month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87368" y="5148072"/>
            <a:ext cx="59436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05656" y="5166360"/>
            <a:ext cx="557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1298448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1389888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content + WhatsApp outreach + referrals + events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943600" y="2231136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322576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keywords + paid search + demo video on homepage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0" y="3163824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80760" y="3255264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Starter — zero financial risk to try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4096512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418795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call within 24h; in-app guided setup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0" y="5029200"/>
            <a:ext cx="55778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80760" y="51206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prompt at 80% of free limit; in-app ROI calc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65760" y="6080760"/>
            <a:ext cx="1115568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126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Year 1 Cumulative: Funnel from Month 3 onward → ~38 new paying clinics/month × 10 months = 380. Add early IMA batch deals + channel partners = 500 clinic target achievable.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Marketing Roadmap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execution from launch hustle to scalable inbound machine.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ROADMAP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 to ₹2 Cr ARR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417320"/>
            <a:ext cx="36576" cy="50749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5331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8988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135331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743200" y="135331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54480" y="15544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Launch &amp; First 50 Clinics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3350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Launch medibook.in + signup flow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766560" y="16093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Produce 10-min setup demo video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766560" y="18836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WhatsApp outreaches/week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554480" y="1865376"/>
            <a:ext cx="1920240" cy="201168"/>
          </a:xfrm>
          <a:prstGeom prst="roundRect">
            <a:avLst>
              <a:gd name="adj" fmla="val 27273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883664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Paying | ₹10K MRR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22960" y="235915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39572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54480" y="235915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2743200" y="235915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54480" y="2560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Channel Partners &amp; First Ads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3408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Sign MoU with 2 IMA state chapters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766560" y="261518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 3 case studies with data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766560" y="288950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Recruit 5 channel partners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1554480" y="2871216"/>
            <a:ext cx="2007108" cy="201168"/>
          </a:xfrm>
          <a:prstGeom prst="roundRect">
            <a:avLst>
              <a:gd name="adj" fmla="val 27273"/>
            </a:avLst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889504"/>
            <a:ext cx="182422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Paying | ₹50K MRR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22960" y="336499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40156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54480" y="336499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743200" y="336499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5–7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54480" y="356616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Hindi Launch + Scale to 300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66560" y="334670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Hindi + Tamil + Telugu bot support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766560" y="36210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ads to Mumbai + Delhi NCR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766560" y="38953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enterprise deal (15+ doctors)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554480" y="3877056"/>
            <a:ext cx="2093976" cy="201168"/>
          </a:xfrm>
          <a:prstGeom prst="roundRect">
            <a:avLst>
              <a:gd name="adj" fmla="val 27273"/>
            </a:avLst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3895344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Paying | ₹1.2L MRR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22960" y="437083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440740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554480" y="437083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2743200" y="437083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8–10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554480" y="457200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Tier 2 City Expansion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66560" y="43525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Coimbatore, Nagpur, Indore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66560" y="462686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SEO: 10,000 organic visitors/month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490118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ABHA health ID integration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554480" y="4882896"/>
            <a:ext cx="2093976" cy="201168"/>
          </a:xfrm>
          <a:prstGeom prst="roundRect">
            <a:avLst>
              <a:gd name="adj" fmla="val 27273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0" y="4901184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 Paying | ₹1.8L MRR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822960" y="537667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" y="5413248"/>
            <a:ext cx="58521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1554480" y="5376672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2743200" y="53766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11–12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1554480" y="55778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500 Clinics — Year 2 Ready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66560" y="535838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clinic milestone campaign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766560" y="563270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Announce Year 2 product roadmap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766560" y="590702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End-of-year annual plan push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554480" y="5888736"/>
            <a:ext cx="2267712" cy="201168"/>
          </a:xfrm>
          <a:prstGeom prst="roundRect">
            <a:avLst>
              <a:gd name="adj" fmla="val 27273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0" y="5907024"/>
            <a:ext cx="208483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Clinics | ₹2 Cr ARR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Success Metrics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measure, what good looks like, and what triggers action.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METRICS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Metrics — Monthly Targets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92608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16152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109728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56432" y="1216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09728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216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760720" y="1188720"/>
            <a:ext cx="109728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121615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49440" y="1188720"/>
            <a:ext cx="530352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22592" y="1216152"/>
            <a:ext cx="5212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Warning Signal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65760" y="1463040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83280" y="1463040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463040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1463040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49440" y="1463040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15544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Clinics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38144" y="15544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26864" y="15544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15584" y="155448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022592" y="1517904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 20% for 2 consecutive months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938528"/>
            <a:ext cx="29260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1938528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0" y="1938528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938528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1938528"/>
            <a:ext cx="53035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20299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(₹)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38144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₹1L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626864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15584" y="202996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₹16.7L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022592" y="1993392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growth below 15%/month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2414016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241401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0" y="241401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60720" y="2414016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49440" y="2414016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25054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Paid Conversion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38144" y="250545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26864" y="250545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815584" y="250545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022592" y="2468880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15% — onboarding/product issue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2889504"/>
            <a:ext cx="29260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83280" y="2889504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572000" y="2889504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2889504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949440" y="2889504"/>
            <a:ext cx="53035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298094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 Rate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38144" y="298094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&lt;8%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4626864" y="298094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815584" y="298094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&lt;3%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022592" y="2944368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above 10% — immediate action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65760" y="3364992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383280" y="3364992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572000" y="3364992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60720" y="3364992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49440" y="3364992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345643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(Cost per Clinic)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438144" y="345643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626864" y="345643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815584" y="345643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₹1,500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022592" y="3419856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above ₹5,000 — review channel mix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3840480"/>
            <a:ext cx="29260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83280" y="3840480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0" y="3840480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760720" y="3840480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949440" y="3840480"/>
            <a:ext cx="53035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8912" y="39319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 Ratio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438144" y="393192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6:1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4626864" y="393192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5815584" y="3931920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20:1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7022592" y="3895344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3:1 — unsustainable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5760" y="4315968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83280" y="431596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0" y="431596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760720" y="4315968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949440" y="4315968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" y="44074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Promoter Score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438144" y="440740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626864" y="440740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815584" y="4407408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22592" y="4370832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30 — product/support review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365760" y="4791456"/>
            <a:ext cx="29260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383280" y="4791456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572000" y="4791456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60720" y="4791456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949440" y="4791456"/>
            <a:ext cx="53035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38912" y="48828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First Booking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3438144" y="488289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&lt;48h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4626864" y="488289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&lt;24h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5815584" y="4882896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&lt;12h</a:t>
            </a:r>
            <a:endParaRPr lang="en-US" sz="950" dirty="0"/>
          </a:p>
        </p:txBody>
      </p:sp>
      <p:sp>
        <p:nvSpPr>
          <p:cNvPr id="95" name="Text 93"/>
          <p:cNvSpPr/>
          <p:nvPr/>
        </p:nvSpPr>
        <p:spPr>
          <a:xfrm>
            <a:off x="7022592" y="4846320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72h — onboarding friction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65760" y="5266944"/>
            <a:ext cx="29260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383280" y="526694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572000" y="526694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760720" y="5266944"/>
            <a:ext cx="10972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49440" y="5266944"/>
            <a:ext cx="53035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38912" y="53583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% of Signups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3438144" y="535838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4626864" y="535838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5815584" y="5358384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105" name="Text 103"/>
          <p:cNvSpPr/>
          <p:nvPr/>
        </p:nvSpPr>
        <p:spPr>
          <a:xfrm>
            <a:off x="7022592" y="5321808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5% at M6 — referral broken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365760" y="5742432"/>
            <a:ext cx="29260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383280" y="5742432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72000" y="5742432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5760720" y="5742432"/>
            <a:ext cx="109728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949440" y="5742432"/>
            <a:ext cx="5303520" cy="438912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38912" y="58338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Monthly Visitors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3438144" y="583387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950" dirty="0"/>
          </a:p>
        </p:txBody>
      </p:sp>
      <p:sp>
        <p:nvSpPr>
          <p:cNvPr id="113" name="Text 111"/>
          <p:cNvSpPr/>
          <p:nvPr/>
        </p:nvSpPr>
        <p:spPr>
          <a:xfrm>
            <a:off x="4626864" y="583387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950" dirty="0"/>
          </a:p>
        </p:txBody>
      </p:sp>
      <p:sp>
        <p:nvSpPr>
          <p:cNvPr id="114" name="Text 112"/>
          <p:cNvSpPr/>
          <p:nvPr/>
        </p:nvSpPr>
        <p:spPr>
          <a:xfrm>
            <a:off x="5815584" y="5833872"/>
            <a:ext cx="10241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7022592" y="5797296"/>
            <a:ext cx="51937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ranking drops — audit content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012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Year 1 — maximum spend on human outreach, minimum on brand until PMF is confirmed.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Marketing Budget — ₹18 Lakhs Total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1480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216152"/>
            <a:ext cx="4041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100584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16152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669280" y="1188720"/>
            <a:ext cx="128016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24144" y="121615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M3–6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040880" y="1188720"/>
            <a:ext cx="128016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95744" y="1216152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M7–12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412480" y="1188720"/>
            <a:ext cx="164592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67344" y="12161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Total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0149840" y="1188720"/>
            <a:ext cx="64008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04704" y="1216152"/>
            <a:ext cx="566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1463040"/>
            <a:ext cx="1051560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463040"/>
            <a:ext cx="54864" cy="4937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157276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Sales (SDR Salaries + Tools)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157276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24144" y="157276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₹1,60,000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095744" y="157276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₹3,00,000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467344" y="157276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₹5,20,000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04704" y="157276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1993392"/>
            <a:ext cx="10515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1993392"/>
            <a:ext cx="54864" cy="4937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10312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(Video + Blog + Design)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26864" y="210312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24144" y="210312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₹80,000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95744" y="210312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₹1,50,000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67344" y="210312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₹2,60,000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204704" y="210312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2523744"/>
            <a:ext cx="1051560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2523744"/>
            <a:ext cx="54864" cy="49377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263347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Advertising (Meta + Google)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26864" y="2633472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24144" y="263347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95744" y="2633472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₹4,50,000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67344" y="2633472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₹5,50,000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204704" y="2633472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3054096"/>
            <a:ext cx="10515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054096"/>
            <a:ext cx="54864" cy="4937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316382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 Partnerships + Events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26864" y="3163824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24144" y="3163824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₹60,000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095744" y="3163824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₹1,20,000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467344" y="3163824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₹1,90,000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204704" y="3163824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65760" y="3584448"/>
            <a:ext cx="1051560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3584448"/>
            <a:ext cx="54864" cy="4937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36941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Partner Program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26864" y="3694176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24144" y="3694176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95744" y="3694176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₹1,00,000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8467344" y="3694176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₹1,40,000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204704" y="3694176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4114800"/>
            <a:ext cx="1051560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65760" y="4114800"/>
            <a:ext cx="54864" cy="49377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" y="422452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MarTech (CRM, Analytics, Email)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626864" y="4224528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₹10K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724144" y="422452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095744" y="4224528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₹40,000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467344" y="42245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₹70,000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204704" y="4224528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65760" y="4645152"/>
            <a:ext cx="10515600" cy="49377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" y="4645152"/>
            <a:ext cx="54864" cy="493776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02920" y="47548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 Miscellaneous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626864" y="4754880"/>
            <a:ext cx="9326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₹5K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724144" y="475488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095744" y="4754880"/>
            <a:ext cx="1207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₹30,000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8467344" y="4754880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₹55,000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0204704" y="4754880"/>
            <a:ext cx="566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5175504"/>
            <a:ext cx="10515600" cy="36576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02920" y="524865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4626864" y="5248656"/>
            <a:ext cx="9326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₹1,15,000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724144" y="524865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₹4,80,000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7095744" y="5248656"/>
            <a:ext cx="12070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₹11,90,000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467344" y="5248656"/>
            <a:ext cx="15727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₹17,85,000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10204704" y="5248656"/>
            <a:ext cx="5669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228600" y="2560320"/>
            <a:ext cx="12192000" cy="36576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3152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>
                    <a:alpha val="1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013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identification of what could go wrong and what we'll do about it.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Risks &amp; Mitigation Plans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11155680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3444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075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changes WhatsApp API pricing / policy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61848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62763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Medium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572768" y="1618488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18488" y="162763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394960" y="1280160"/>
            <a:ext cx="18288" cy="777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2893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32120" y="149047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Meta dev news weekly. Build SMS fallback for reminders. Negotiate with multiple BSPs for redundancy.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24028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134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Practo / large competitor launches a WhatsApp bot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262432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63347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Low–Medium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572768" y="2624328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18488" y="263347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394960" y="2286000"/>
            <a:ext cx="18288" cy="777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2120" y="229514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32120" y="249631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advantage — reach 500 clinics before they react. Multi-tenant architecture and India UX creates a moat. Large players are slow to pivot.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32461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24612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3192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free-to-paid conversion (product doesn't retain)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363016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6393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Medium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572768" y="3630168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18488" y="363931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Medium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394960" y="3291840"/>
            <a:ext cx="18288" cy="777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330098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32120" y="350215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hands-on onboarding call per new clinic. Track activation (first booking) relentlessly. Fix every onboarding friction before scaling ads.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25196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251960"/>
            <a:ext cx="54864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3251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in early months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63600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64515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Medium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1572768" y="4636008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DC2626">
              <a:alpha val="15000"/>
            </a:srgbClr>
          </a:solidFill>
          <a:ln w="12700">
            <a:solidFill>
              <a:srgbClr val="DC2626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18488" y="464515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High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394960" y="4297680"/>
            <a:ext cx="18288" cy="777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4306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32120" y="450799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success calls with every paying clinic. NPS survey at 30 days. Churn reason tagging — understand patterns before they become trends.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65760" y="525780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5257800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53309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 reluctant to trust new software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5641848"/>
            <a:ext cx="914400" cy="182880"/>
          </a:xfrm>
          <a:prstGeom prst="roundRect">
            <a:avLst>
              <a:gd name="adj" fmla="val 25000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65099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P: High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572768" y="5641848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D97706">
              <a:alpha val="15000"/>
            </a:srgbClr>
          </a:solidFill>
          <a:ln w="12700">
            <a:solidFill>
              <a:srgbClr val="D97706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18488" y="5650992"/>
            <a:ext cx="685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Medium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5394960" y="5303520"/>
            <a:ext cx="18288" cy="777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32120" y="5312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532120" y="5513832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removes financial risk. Personal demo for first 50 clinics from founder. Doctor-to-doctor testimonial videos. IMA trust signals on website.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5029200"/>
            <a:ext cx="12192000" cy="36576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MediBook Marketing North Star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1719072"/>
            <a:ext cx="10789920" cy="2560320"/>
          </a:xfrm>
          <a:prstGeom prst="roundRect">
            <a:avLst>
              <a:gd name="adj" fmla="val 4286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10424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clinic owners don't buy software. They buy solutions to problems they feel every day.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phone ringing at 2am. The patient who was a no-show but didn't call. The receptionist who left. The WhatsApp message that went unread.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content, every ad, every cold message must speak to those moments — not to features, not to technology. When a doctor watches our 60-second demo and thinks "I need this", we've won.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6451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 Cr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ARR Target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4572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46451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6616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Clinics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309360" y="4572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6451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₹18L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Budget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144000" y="457200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35440" y="4645152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35440" y="51663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No-Show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BFD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62636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A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MediBook  ·  Marketing Strategy &amp; Go-To-Market Plan  ·  FY 2026–2027  ·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2026-03-15T02:23:20Z</dcterms:created>
  <dcterms:modified xsi:type="dcterms:W3CDTF">2026-03-15T02:23:20Z</dcterms:modified>
</cp:coreProperties>
</file>